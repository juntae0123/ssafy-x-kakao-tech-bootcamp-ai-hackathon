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3657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AI 농산물 알뜰 소비정보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DCAA5"/>
                </a:solidFill>
              </a:rPr>
              <a:t>수집 데이터 지표 전체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2A9"/>
                </a:solidFill>
              </a:rPr>
              <a:t>SSAFY X Kakao Tech Bootcamp AI Hackathon  |  2026.05.20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2651760" cy="2011680"/>
          </a:xfrm>
          <a:prstGeom prst="rect">
            <a:avLst/>
          </a:prstGeom>
          <a:solidFill>
            <a:srgbClr val="172A3A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45720" cy="20116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657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488,687행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2A9"/>
                </a:solidFill>
              </a:rPr>
              <a:t>총 수집 데이터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520440"/>
            <a:ext cx="2651760" cy="2011680"/>
          </a:xfrm>
          <a:prstGeom prst="rect">
            <a:avLst/>
          </a:prstGeom>
          <a:solidFill>
            <a:srgbClr val="172A3A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3520440"/>
            <a:ext cx="45720" cy="20116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657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7개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2A9"/>
                </a:solidFill>
              </a:rPr>
              <a:t>활용 소스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520440"/>
            <a:ext cx="2651760" cy="2011680"/>
          </a:xfrm>
          <a:prstGeom prst="rect">
            <a:avLst/>
          </a:prstGeom>
          <a:solidFill>
            <a:srgbClr val="172A3A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520440"/>
            <a:ext cx="45720" cy="20116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657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10종 품목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2A9"/>
                </a:solidFill>
              </a:rPr>
              <a:t>배추·무·양파 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520440"/>
            <a:ext cx="2651760" cy="2011680"/>
          </a:xfrm>
          <a:prstGeom prst="rect">
            <a:avLst/>
          </a:prstGeom>
          <a:solidFill>
            <a:srgbClr val="172A3A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3520440"/>
            <a:ext cx="45720" cy="20116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657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최대 37개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B2A9"/>
                </a:solidFill>
              </a:rPr>
              <a:t>API별 컬럼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at_daily  —  일별 도·소매 가격정보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10,000행  |  21개 컬럼  |  배추·무·양파·대파·감자·고구마·마늘·당근·오이·토마토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11430000" cy="5687568"/>
          </a:xfrm>
          <a:prstGeom prst="rect">
            <a:avLst/>
          </a:prstGeom>
          <a:solidFill>
            <a:srgbClr val="172A3A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45720" cy="56875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ctgry_cd  부류코드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898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ctgry_nm  부류명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898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채소류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item_cd  품목코드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254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item_nm  품목명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254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배추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vrty_cd  품종코드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898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vrty_nm  품종명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898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grd_cd  등급코드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254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grd_nm  등급명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254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상품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se_cd  구분코드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898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se_nm  구분명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898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DCAA5"/>
                </a:solidFill>
              </a:rPr>
              <a:t>중도매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sgg_cd  시군구코드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254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sgg_nm  시군구명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254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서울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mrkt_cd  시장코드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110211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898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mrkt_nm  시장명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898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가락도매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exmn_ymd  조사일자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20250520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254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exmn_dd_prc  조사일가격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254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8,100원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exmn_dd_cnvs_prc  kg환산가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8,100원/kg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898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  단위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898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kg(그물망 3포기)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unit_sz  단위크기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254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orgnl_reg_dt  원본등록일시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9254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B2A9"/>
                </a:solidFill>
              </a:rPr>
              <a:t>2025-07-31T14:29:41Z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271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품목명 (추가)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0804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B2A9"/>
                </a:solidFill>
              </a:rPr>
              <a:t>배추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at_recent  —  최근일자 시계열 가격비교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88행  |  24개 컬럼  |  현재·1일전·1주전·1개월전·1년전 가격 및 kg환산가 동시 제공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11430000" cy="5687568"/>
          </a:xfrm>
          <a:prstGeom prst="rect">
            <a:avLst/>
          </a:prstGeom>
          <a:solidFill>
            <a:srgbClr val="172A3A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45720" cy="56875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ctgry_cd  부류코드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898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ctgry_nm  부류명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898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채소류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item_cd  품목코드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254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item_nm  품목명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254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배추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vrty_cd  품종코드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898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vrty_nm  품종명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898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grd_cd  등급코드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254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grd_nm  등급명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254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상품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se_cd  구분코드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898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se_nm  구분명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898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DCAA5"/>
                </a:solidFill>
              </a:rPr>
              <a:t>소매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  단위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포기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254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unit_sz  단위크기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254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exmn_ymd  조사일자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20260519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898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exmn_dd_prc  현재가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898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3,032원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exmn_dd_cnvs_prc  현재kg환산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3,032원/kg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254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dd1_bfr_prc  1일전가격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254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2,615원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dd1_bfr_cnvs_prc  1일전kg환산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2,615원/kg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898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ww1_bfr_prc  1주전가격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898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2,715원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ww1_bfr_cnvs_prc  1주전kg환산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2,715원/kg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254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mm1_bfr_prc  1개월전가격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9254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9,741원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271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mm1_bfr_cnvs_prc  1개월전kg환산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0804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9,741원/kg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68980" y="57271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yy1_bfr_prc  1년전가격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68980" y="60804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24B4A"/>
                </a:solidFill>
              </a:rPr>
              <a:t>3,537원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57271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yy1_bfr_cnvs_prc  1년전kg환산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60804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24B4A"/>
                </a:solidFill>
              </a:rPr>
              <a:t>3,537원/kg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2540" y="57271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품목명 (추가)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92540" y="60804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B2A9"/>
                </a:solidFill>
              </a:rPr>
              <a:t>배추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at_monthly  —  연월별 도·소매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4,661행  |  29개 컬럼  |  월평균·최저·최고·표준편차·변동계수·진폭계수 + 연간통계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11430000" cy="5687568"/>
          </a:xfrm>
          <a:prstGeom prst="rect">
            <a:avLst/>
          </a:prstGeom>
          <a:solidFill>
            <a:srgbClr val="172A3A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45720" cy="56875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ctgry_cd  부류코드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322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4" y="10789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ctgry_nm  부류명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4" y="14322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채소류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0789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item_cd  품목코드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4322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10789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item_nm  품목명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14322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배추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4896" y="10789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vrty_cd  품종코드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54896" y="14322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00863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vrty_nm  품종명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6189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200863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grd_cd  등급코드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624" y="236189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00863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grd_nm  등급명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236189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상품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00863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se_cd  구분코드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36189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00863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se_nm  구분명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36189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DCAA5"/>
                </a:solidFill>
              </a:rPr>
              <a:t>중도매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93827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sgg_cd  시군구코드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29153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6624" y="293827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sgg_nm  시군구명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6624" y="329153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서울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293827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  단위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8" y="329153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kg(그물망 3포기)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293827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unit_sz  단위크기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5472" y="329153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293827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exmn_ym  조사연월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4896" y="329153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202505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86791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pmm_avgprc  월평균가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22117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7,926원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06624" y="386791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pmm_hgprc  월최고가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06624" y="422117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11,000원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386791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pmm_lwprc  월최저가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422117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6,200원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5472" y="386791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pmm_stddvtn  월표준편차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5472" y="422117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1,150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6" y="386791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pmm_cfcntvrtn  월변동계수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54896" y="422117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14.51%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797551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pmm_cfcntrng  월진폭계수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15081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0.77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6624" y="4797551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pyy_avgprc  연평균가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6624" y="515081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9,756원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56048" y="4797551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pyy_hgprc  연최고가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515081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15,200원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05472" y="4797551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pyy_lwprc  연최저가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05472" y="515081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6,200원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54896" y="4797551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pyy_stddvtn  연표준편차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54896" y="515081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2,249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7271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pyy_cfcntvrtn  연변동계수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0804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23.05%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06624" y="57271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pyy_cfcntrng  연진폭계수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06624" y="60804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1.45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56048" y="57271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orgnl_reg_dt  등록일시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56048" y="60804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B2A9"/>
                </a:solidFill>
              </a:rPr>
              <a:t>2025-08-07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5472" y="57271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품목명 (추가)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05472" y="60804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B2A9"/>
                </a:solidFill>
              </a:rPr>
              <a:t>배추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at_regional  —  지역별 품목별 가격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45,948행  |  22개 컬럼  |  시군구별 최저·평균·최고 + kg환산 3종 + 채널별(도매/소매/친환경)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11430000" cy="5687568"/>
          </a:xfrm>
          <a:prstGeom prst="rect">
            <a:avLst/>
          </a:prstGeom>
          <a:solidFill>
            <a:srgbClr val="172A3A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45720" cy="56875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ctgry_cd  부류코드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898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ctgry_nm  부류명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898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채소류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item_cd  품목코드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2540" y="10789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item_nm  품목명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2540" y="14322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배추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vrty_cd  품종코드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898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vrty_nm  품종명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898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grd_cd  등급코드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2540" y="200863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grd_nm  등급명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2540" y="236189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상품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se_cd  구분코드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898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se_nm  구분명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898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DCAA5"/>
                </a:solidFill>
              </a:rPr>
              <a:t>중도매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sgg_cd  시군구코드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2540" y="293827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sgg_nm  시군구명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2540" y="329153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서울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  단위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kg(그물망 3포기)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898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unit_sz  단위크기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898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exmn_ymd  조사일자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20250520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2540" y="386791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exmn_dd_min_prc  최저가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2540" y="422117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6,200원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exmn_dd_avg_prc  평균가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8,100원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898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exmn_dd_max_prc  최고가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898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8,100원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exmn_dd_cnvs_min_prc  kg환산최저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6,200원/kg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2540" y="4797551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exmn_dd_cnvs_avg_prc  kg환산평균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92540" y="515081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8,100원/kg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271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exmn_dd_cnvs_max_prc  kg환산최고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0804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8,100원/kg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68980" y="5727192"/>
            <a:ext cx="2766060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품목명 (추가)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68980" y="6080455"/>
            <a:ext cx="2766060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B2A9"/>
                </a:solidFill>
              </a:rPr>
              <a:t>배추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mafra_auction  —  전국 공영도매시장 경매원천정보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7DD"/>
                </a:solidFill>
              </a:rPr>
              <a:t>208,000행  |  37개 컬럼  |  전국 8개 도매시장 최근 30일 경매 원천 데이터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11430000" cy="5687568"/>
          </a:xfrm>
          <a:prstGeom prst="rect">
            <a:avLst/>
          </a:prstGeom>
          <a:solidFill>
            <a:srgbClr val="172A3A"/>
          </a:solidFill>
          <a:ln w="6350">
            <a:solidFill>
              <a:srgbClr val="7F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45720" cy="5687568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trd_clcln_ymd  거래정산일자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0796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078992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scsbd_dt  낙찰일시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380796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078992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whsl_mrkt_cd  도매시장코드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380796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110001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078992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whsl_mrkt_nm  도매시장명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380796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서울가락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078992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corp_cd  법인코드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380796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11000102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1078992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corp_nm  법인명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1380796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농협가락(공)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873213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corp_gds_cd  법인상품코드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175017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2003004045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1873213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corp_gds_item_nm  품목명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175017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F77DD"/>
                </a:solidFill>
              </a:rPr>
              <a:t>딸기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1873213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corp_gds_vrty_nm  품종명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175017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금실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873213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gds_lclsf_cd  대분류코드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175017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3213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gds_lclsf_nm  대분류명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2175017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과일과채류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1873213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gds_mclsf_cd  중분류코드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175017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667435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gds_mclsf_nm  중분류명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69239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딸기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2667435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gds_sclsf_cd  소분류코드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2969239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2667435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gds_sclsf_nm  소분류명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2969239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금실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667435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grd_cd  등급코드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969239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2667435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grd_nm  등급명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0" y="2969239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2667435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plor_cd  원산지코드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2969239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517000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461657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plor_nm  원산지명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763461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전남 담양군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3461657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spmt_se  출하구분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3763461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계통출하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3461657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trd_se  매매구분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3763461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DCAA5"/>
                </a:solidFill>
              </a:rPr>
              <a:t>경매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3461657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scsbd_prc  낙찰가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3763461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14,000원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80" y="3461657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qty  물량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80" y="3763461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3461657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unit_cd  단위코드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3763461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255878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unit_nm  단위명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557683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31720" y="4255878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unit_qty  단위물량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1720" y="4557683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0" y="4255878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unit_tot_qty  단위총물량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0" y="4557683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4255878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totprc  총가격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0760" y="4557683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56,000원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80" y="4255878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pkg_cd  포장코드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80" y="4557683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29800" y="4255878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pkg_nm  포장명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9800" y="4557683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상자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050100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sz_cd  크기코드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351904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31720" y="5050100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sz_nm  크기명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31720" y="5351904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35내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6240" y="5050100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spm_no  원표번호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06240" y="5351904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80760" y="5050100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auctn_seq  경매순서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80760" y="5351904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55280" y="5050100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auctn_seq2  경매순서2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5351904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29800" y="5050100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mdfcn_dt  수정일시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29800" y="5351904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B2A9"/>
                </a:solidFill>
              </a:rPr>
              <a:t>2026-05-20 01:29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844322"/>
            <a:ext cx="1828800" cy="3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도매시장코드 (추가)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146126"/>
            <a:ext cx="1828800" cy="436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B2A9"/>
                </a:solidFill>
              </a:rPr>
              <a:t>110001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mafra_realtime  —  전국 공영도매시장 실시간 경매정보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7DD"/>
                </a:solidFill>
              </a:rPr>
              <a:t>216,000행  |  29개 컬럼  |  낙찰 일시 단위 기록 · 정가수의·경매·전자거래 매매방법 포함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11430000" cy="5687568"/>
          </a:xfrm>
          <a:prstGeom prst="rect">
            <a:avLst/>
          </a:prstGeom>
          <a:solidFill>
            <a:srgbClr val="172A3A"/>
          </a:solidFill>
          <a:ln w="6350">
            <a:solidFill>
              <a:srgbClr val="7F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45720" cy="5687568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trd_clcln_ymd  거래정산일자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322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4" y="10789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scsbd_dt  낙찰일시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4" y="14322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2026-04-20 11:07:04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0789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whsl_mrkt_cd  도매시장코드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4322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110001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10789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whsl_mrkt_nm  도매시장명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14322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서울가락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4896" y="10789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corp_cd  법인코드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54896" y="14322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11000104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00863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corp_nm  법인명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6189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동화청과㈜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200863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corp_gds_cd  법인상품코드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624" y="236189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26900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00863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corp_gds_item_nm  품목명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236189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F77DD"/>
                </a:solidFill>
              </a:rPr>
              <a:t>적채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00863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corp_gds_vrty_nm  품종명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36189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적채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00863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gds_lclsf_cd  대분류코드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36189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93827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gds_lclsf_nm  대분류명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29153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양채류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6624" y="293827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gds_mclsf_cd  중분류코드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6624" y="329153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293827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gds_mclsf_nm  중분류명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8" y="329153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적채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293827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gds_sclsf_cd  소분류코드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5472" y="329153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293827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gds_sclsf_nm  소분류명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4896" y="329153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적채(일반)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86791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plor_cd  원산지코드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22117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365000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06624" y="386791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plor_nm  원산지명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06624" y="422117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충북 진천군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386791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trd_se  매매방법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422117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DCAA5"/>
                </a:solidFill>
              </a:rPr>
              <a:t>정가수의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5472" y="386791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scsbd_prc  낙찰가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5472" y="422117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15,500원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6" y="386791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qty  수량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54896" y="422117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797551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unit_cd  단위코드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15081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6624" y="4797551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unit_nm  단위명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6624" y="515081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56048" y="4797551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unit_qty  단위물량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515081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8.0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05472" y="4797551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pkg_cd  포장코드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05472" y="515081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54896" y="4797551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pkg_nm  포장명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54896" y="515081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상자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7271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spm_no  원표번호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0804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210512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06624" y="57271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auctn_seq  경매순서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06624" y="60804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56048" y="57271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mdfcn_dt  수정일시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56048" y="60804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B2A9"/>
                </a:solidFill>
              </a:rPr>
              <a:t>2026-04-20 11:22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5472" y="5727192"/>
            <a:ext cx="2203704" cy="35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도매시장코드 (추가)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05472" y="6080455"/>
            <a:ext cx="2203704" cy="51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B2A9"/>
                </a:solidFill>
              </a:rPr>
              <a:t>110001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weather + 핵심 활용 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CAA5"/>
                </a:solidFill>
              </a:rPr>
              <a:t>기상청 단기예보  |  3,990행  |  9개 컬럼  |  5개 농산지 × 기온·강수·풍속·하늘상태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00" cy="3566160"/>
          </a:xfrm>
          <a:prstGeom prst="rect">
            <a:avLst/>
          </a:prstGeom>
          <a:solidFill>
            <a:srgbClr val="172A3A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5720" cy="35661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baseDate  기준일자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9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9E75"/>
                </a:solidFill>
              </a:rPr>
              <a:t>20260520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0972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baseTime  기준시각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89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1400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64207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fcstDate  예보일자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562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20260520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664207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fcstTime  예보시각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8562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1500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3113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category  항목코드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DCAA5"/>
                </a:solidFill>
              </a:rPr>
              <a:t>TMP·PCP·REH·WSD·SKY·PTY·POP·WAV·UUU·VVV·VEC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23113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fcstValue  예보값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423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9E75"/>
                </a:solidFill>
              </a:rPr>
              <a:t>16°C·2.0mm·60%·4.4m/s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98063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nx  격자X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900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798063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ny  격자Y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9900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127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64991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2A9"/>
                </a:solidFill>
              </a:rPr>
              <a:t>지역명 (추가)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5701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B2A9"/>
                </a:solidFill>
              </a:rPr>
              <a:t>서울·전남해남·강원평창·경북안동·전북김제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005840"/>
            <a:ext cx="5486400" cy="3566160"/>
          </a:xfrm>
          <a:prstGeom prst="rect">
            <a:avLst/>
          </a:prstGeom>
          <a:solidFill>
            <a:srgbClr val="172A3A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005840"/>
            <a:ext cx="45720" cy="35661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097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9E75"/>
                </a:solidFill>
              </a:rPr>
              <a:t>핵심 활용 조합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CAA5"/>
                </a:solidFill>
              </a:rPr>
              <a:t>▸ 가격 비교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B2A9"/>
                </a:solidFill>
              </a:rPr>
              <a:t>at_daily + at_regional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75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CAA5"/>
                </a:solidFill>
              </a:rPr>
              <a:t>▸ 최적 구매처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0756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B2A9"/>
                </a:solidFill>
              </a:rPr>
              <a:t>at_regional 시군구별 최저가 순위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5511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CAA5"/>
                </a:solidFill>
              </a:rPr>
              <a:t>▸ 대체재 추천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55117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B2A9"/>
                </a:solidFill>
              </a:rPr>
              <a:t>at_recent 품목별 현재 시세 비교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0266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CAA5"/>
                </a:solidFill>
              </a:rPr>
              <a:t>▸ 경락→소매 마진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02666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B2A9"/>
                </a:solidFill>
              </a:rPr>
              <a:t>mafra_auction + at_daily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502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CAA5"/>
                </a:solidFill>
              </a:rPr>
              <a:t>▸ 가격 급등 예측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5021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B2A9"/>
                </a:solidFill>
              </a:rPr>
              <a:t>weather + at_monthly 계절성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CAA5"/>
                </a:solidFill>
              </a:rPr>
              <a:t>▸ 실시간 경매추적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977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B2A9"/>
                </a:solidFill>
              </a:rPr>
              <a:t>mafra_realtime 낙찰일시 기준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36592"/>
            <a:ext cx="11430000" cy="1783080"/>
          </a:xfrm>
          <a:prstGeom prst="rect">
            <a:avLst/>
          </a:prstGeom>
          <a:solidFill>
            <a:srgbClr val="0F6E56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736592"/>
            <a:ext cx="45720" cy="17830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809744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DCAA5"/>
                </a:solidFill>
              </a:rPr>
              <a:t>at_daily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09320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10,000행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4406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CAA5"/>
                </a:solidFill>
              </a:rPr>
              <a:t>21컬럼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30552" y="4809744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DCAA5"/>
                </a:solidFill>
              </a:rPr>
              <a:t>at_recent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30552" y="509320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88행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30552" y="54406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CAA5"/>
                </a:solidFill>
              </a:rPr>
              <a:t>24컬럼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12463" y="4809744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DCAA5"/>
                </a:solidFill>
              </a:rPr>
              <a:t>at_monthly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12463" y="509320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4,661행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12463" y="54406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CAA5"/>
                </a:solidFill>
              </a:rPr>
              <a:t>29컬럼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94375" y="4809744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DCAA5"/>
                </a:solidFill>
              </a:rPr>
              <a:t>at_regional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94375" y="509320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45,948행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94375" y="54406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CAA5"/>
                </a:solidFill>
              </a:rPr>
              <a:t>22컬럼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76288" y="4809744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DCAA5"/>
                </a:solidFill>
              </a:rPr>
              <a:t>mafra_auction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76288" y="509320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208,000행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6288" y="54406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CAA5"/>
                </a:solidFill>
              </a:rPr>
              <a:t>37컬럼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58200" y="4809744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DCAA5"/>
                </a:solidFill>
              </a:rPr>
              <a:t>mafra_realtime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509320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216,000행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54406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CAA5"/>
                </a:solidFill>
              </a:rPr>
              <a:t>29컬럼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40111" y="4809744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DCAA5"/>
                </a:solidFill>
              </a:rPr>
              <a:t>weather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40111" y="509320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3,990행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40111" y="54406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CAA5"/>
                </a:solidFill>
              </a:rPr>
              <a:t>9컬럼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8338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9E75"/>
                </a:solidFill>
              </a:rPr>
              <a:t>Total  488,687행  |  7개 API  |  최대 37개 컬럼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